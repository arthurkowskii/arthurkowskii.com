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96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ADAA6E-0F90-4AB9-BC4C-7EC9B21FAD1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7080A-9F1E-40AD-8E1F-A583D9531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438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07080A-9F1E-40AD-8E1F-A583D95310B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7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AB100-806D-CCCC-DE98-98B06FD09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824E7A-A0D2-45E8-ABA7-A5A557AA5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0E71B-FC76-9DD3-CEAE-A924AEC86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E7F74-7ABE-4315-9C8D-344EA87CF281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1AD17-0100-C860-5F70-82B075317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E72B9-715E-A721-778D-DD023FE3B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089A6-A6E3-4F92-A1D2-E56D1D1D07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842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B9363-856B-65E5-5E06-7E0BA54E2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BBA12-A624-AB5C-1CC2-4CB1FE470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FB94E-A671-B28D-FF58-36E9CEED2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E7F74-7ABE-4315-9C8D-344EA87CF281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11902-F064-39CB-B40F-333FECBB1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2003F-5605-1AE2-F788-087171C7B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089A6-A6E3-4F92-A1D2-E56D1D1D07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5980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CFEDD-5ED8-5562-FF01-C0E411454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175BD9-EAEB-6C3A-610A-51D4470EC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5DD02-0EBF-5A54-11CF-9B3CCC790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E7F74-7ABE-4315-9C8D-344EA87CF281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43BE5-BB0C-621D-4603-58C8DE18F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94826-B79B-5926-C376-8A5BE7BD5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089A6-A6E3-4F92-A1D2-E56D1D1D07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837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EEF5D-DCD2-3F64-8CAC-D19C84B56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079CD-F707-925E-D886-D223DBD499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F4D78C-9EC1-FA39-2EBC-8D5F03C9E6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02E4A8-1953-FF86-8576-882FCFCBB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E7F74-7ABE-4315-9C8D-344EA87CF281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5D0130-14DA-1E9D-FA4F-982034A37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42FF64-2EF5-C528-8D8A-EFCC9C72D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089A6-A6E3-4F92-A1D2-E56D1D1D07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808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C2CC4-A8FA-508D-7F28-E3E36BBA0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6D8D0-1EAE-4E59-35F4-0A6E65056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C0168D-D68C-B01D-3BCE-8F650CE6C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CB78B-3EAF-3C2C-0CF6-96790A9A90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F5982F-525A-75B1-71BC-6C6060A3E5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140FCC-2D05-7A15-E72B-B2DEB9DB9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E7F74-7ABE-4315-9C8D-344EA87CF281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90291A-CC7A-E25F-27B1-D751DFF37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192E94-7D44-4C78-98FC-D34C455BC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089A6-A6E3-4F92-A1D2-E56D1D1D07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929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8BBF5-E2FF-4A43-2FAA-ADE890E88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AB9E26-4843-92D5-8A6F-AEC904EEF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E7F74-7ABE-4315-9C8D-344EA87CF281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0FEFD9-A9A9-0370-2B4F-D29984ED5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CF011B-B8CA-7976-CEAF-D3D40AA45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089A6-A6E3-4F92-A1D2-E56D1D1D07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473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EA24AF-1F59-977F-1DEB-6172AF681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E7F74-7ABE-4315-9C8D-344EA87CF281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D9606A-19EA-88BC-54BA-561CAC257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C4F17-D986-4FDF-73F5-8FFB3D252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089A6-A6E3-4F92-A1D2-E56D1D1D07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173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85B5F-6B34-5A3B-01F7-B757324D2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729DB-FC02-E2B0-96D9-9BEB5EF15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17C3F7-EB0B-3AE7-B706-2AB4F730C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A6B8CE-11F5-AFC5-A72D-6F181A3A0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E7F74-7ABE-4315-9C8D-344EA87CF281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D82768-B3BC-0894-C2A1-EF56F0E65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35275-EAC3-4F0F-D89C-4305682D5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089A6-A6E3-4F92-A1D2-E56D1D1D07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497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DE1DB-605A-9D1A-C813-654FDB5F3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E5B06A-737B-DAC4-5395-EEFF72CD7D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DDB30F-76CB-7983-D87C-89B9F01F1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18E96D-11DD-D714-A5B9-64CB7EDA1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E7F74-7ABE-4315-9C8D-344EA87CF281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3E7F1C-5DDC-A022-E641-72D7093CA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D9DA65-4983-8D49-B52D-620E903FC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089A6-A6E3-4F92-A1D2-E56D1D1D07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4714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A6075-A569-B72F-88CE-D9AF1707C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6014E3-6B9D-F57C-0553-DE9707C56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EA1C5-8C07-ED0F-8561-7943DE051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E7F74-7ABE-4315-9C8D-344EA87CF281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8A3BD-E93C-1E2C-202D-845B3B261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E0342-FB36-9012-E540-583299CC6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089A6-A6E3-4F92-A1D2-E56D1D1D07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517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D7B5BF-EC18-B482-C471-63322781FF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FFD0AE-FF67-1E00-96B5-F1FB57055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00F1C-C9E2-048D-22F0-BB3376077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E7F74-7ABE-4315-9C8D-344EA87CF281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AA0F7-DDB8-06DD-BFAD-73FBB65A2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CB2B5-B9A5-5C28-02C2-4C3E943A7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089A6-A6E3-4F92-A1D2-E56D1D1D07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981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A1DA3A-A1A7-99CF-F4F6-7F120873F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B5A1B-0A61-6CB1-B056-583432F40F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4BF3A-D5CD-E83E-D99F-81FB4A856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4E7F74-7ABE-4315-9C8D-344EA87CF281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5360B-6BBF-CCB8-A059-9016F09B2A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56494-3E71-B807-8C1A-DA945C80F4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6089A6-A6E3-4F92-A1D2-E56D1D1D07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473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gif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jpg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62934-6EB7-40D2-FD3C-54583DFA6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B2B6E750-45E8-A7E5-A1A8-9278DC6C15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5147586" y="-2197100"/>
            <a:ext cx="6261491" cy="62828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DD264FC-E0E7-C695-AC95-45E29D5B64B7}"/>
              </a:ext>
            </a:extLst>
          </p:cNvPr>
          <p:cNvSpPr txBox="1"/>
          <p:nvPr/>
        </p:nvSpPr>
        <p:spPr>
          <a:xfrm>
            <a:off x="1422400" y="444500"/>
            <a:ext cx="6159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Barbara" pitchFamily="2" charset="0"/>
              </a:rPr>
              <a:t>ARTHUR CROQUEBOIS</a:t>
            </a:r>
            <a:endParaRPr lang="en-US" sz="4400" dirty="0">
              <a:latin typeface="Barbara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67998F-433E-1CE5-EA1C-5710A49EBC72}"/>
              </a:ext>
            </a:extLst>
          </p:cNvPr>
          <p:cNvSpPr txBox="1"/>
          <p:nvPr/>
        </p:nvSpPr>
        <p:spPr>
          <a:xfrm>
            <a:off x="1422400" y="1903751"/>
            <a:ext cx="6159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Eras Light ITC" panose="020B0402030504020804" pitchFamily="34" charset="0"/>
              </a:rPr>
              <a:t>Revisiter le portfolio audio</a:t>
            </a:r>
            <a:endParaRPr lang="en-US" sz="2400" dirty="0">
              <a:latin typeface="Eras Light ITC" panose="020B040203050402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777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44857-CC24-C331-9575-B2CD5D23C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2CDBEAC3-6D04-6B94-7862-85730B9E32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-5147586" y="-2197100"/>
            <a:ext cx="6261491" cy="62828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7890D2D-00E4-2A62-3417-3101A3C0500C}"/>
              </a:ext>
            </a:extLst>
          </p:cNvPr>
          <p:cNvSpPr txBox="1"/>
          <p:nvPr/>
        </p:nvSpPr>
        <p:spPr>
          <a:xfrm>
            <a:off x="1216012" y="474980"/>
            <a:ext cx="6159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Barbara" pitchFamily="2" charset="0"/>
              </a:rPr>
              <a:t>ORIGINE</a:t>
            </a:r>
            <a:endParaRPr lang="en-US" sz="4400" dirty="0">
              <a:latin typeface="Barbara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1FEB33-884E-3E46-0DC5-D86F83860C7F}"/>
              </a:ext>
            </a:extLst>
          </p:cNvPr>
          <p:cNvSpPr txBox="1"/>
          <p:nvPr/>
        </p:nvSpPr>
        <p:spPr>
          <a:xfrm>
            <a:off x="1270757" y="1159549"/>
            <a:ext cx="6159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Eras Light ITC" panose="020B0402030504020804" pitchFamily="34" charset="0"/>
              </a:rPr>
              <a:t>Analyse d’un problème :</a:t>
            </a:r>
            <a:endParaRPr lang="en-US" sz="2400" dirty="0">
              <a:latin typeface="Eras Light ITC" panose="020B04020305040208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2EE422C-B745-CACE-64A5-62660C25994B}"/>
              </a:ext>
            </a:extLst>
          </p:cNvPr>
          <p:cNvSpPr/>
          <p:nvPr/>
        </p:nvSpPr>
        <p:spPr>
          <a:xfrm>
            <a:off x="1124572" y="2290444"/>
            <a:ext cx="3269628" cy="4090988"/>
          </a:xfrm>
          <a:prstGeom prst="roundRect">
            <a:avLst/>
          </a:prstGeom>
          <a:noFill/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6EA1AB4-F582-0B36-C2C3-7E8A740FBD61}"/>
              </a:ext>
            </a:extLst>
          </p:cNvPr>
          <p:cNvSpPr/>
          <p:nvPr/>
        </p:nvSpPr>
        <p:spPr>
          <a:xfrm>
            <a:off x="4820272" y="2290444"/>
            <a:ext cx="3269628" cy="4090988"/>
          </a:xfrm>
          <a:prstGeom prst="roundRect">
            <a:avLst/>
          </a:prstGeom>
          <a:noFill/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495D3A0-420E-2FA7-83D4-AA1709FCA37E}"/>
              </a:ext>
            </a:extLst>
          </p:cNvPr>
          <p:cNvSpPr/>
          <p:nvPr/>
        </p:nvSpPr>
        <p:spPr>
          <a:xfrm>
            <a:off x="8515972" y="2290444"/>
            <a:ext cx="3269628" cy="4090988"/>
          </a:xfrm>
          <a:prstGeom prst="roundRect">
            <a:avLst/>
          </a:prstGeom>
          <a:noFill/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F5A8AB-FB28-8746-B73B-7E4A1688B50A}"/>
              </a:ext>
            </a:extLst>
          </p:cNvPr>
          <p:cNvSpPr txBox="1"/>
          <p:nvPr/>
        </p:nvSpPr>
        <p:spPr>
          <a:xfrm>
            <a:off x="1550644" y="2603737"/>
            <a:ext cx="26662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latin typeface="Eras Light ITC" panose="020B0402030504020804" pitchFamily="34" charset="0"/>
              </a:rPr>
              <a:t>1. Dépendant d’outils externes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BC11A9-78A8-3001-70D0-D182F1105C09}"/>
              </a:ext>
            </a:extLst>
          </p:cNvPr>
          <p:cNvSpPr txBox="1"/>
          <p:nvPr/>
        </p:nvSpPr>
        <p:spPr>
          <a:xfrm>
            <a:off x="5423657" y="2603737"/>
            <a:ext cx="26662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latin typeface="Eras Light ITC" panose="020B0402030504020804" pitchFamily="34" charset="0"/>
              </a:rPr>
              <a:t>2. Laborieux, </a:t>
            </a:r>
            <a:r>
              <a:rPr lang="fr-FR" sz="2400" b="1" dirty="0" err="1">
                <a:latin typeface="Eras Light ITC" panose="020B0402030504020804" pitchFamily="34" charset="0"/>
              </a:rPr>
              <a:t>inneficace</a:t>
            </a:r>
            <a:endParaRPr lang="fr-FR" sz="2400" b="1" dirty="0">
              <a:latin typeface="Eras Light ITC" panose="020B04020305040208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A8FAB6-6261-88D2-C16E-0856E9D94E56}"/>
              </a:ext>
            </a:extLst>
          </p:cNvPr>
          <p:cNvSpPr txBox="1"/>
          <p:nvPr/>
        </p:nvSpPr>
        <p:spPr>
          <a:xfrm>
            <a:off x="9119357" y="2603737"/>
            <a:ext cx="26662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latin typeface="Eras Light ITC" panose="020B0402030504020804" pitchFamily="34" charset="0"/>
              </a:rPr>
              <a:t>3. Perte de l’attention des </a:t>
            </a:r>
            <a:r>
              <a:rPr lang="fr-FR" sz="2400" b="1" dirty="0" err="1">
                <a:latin typeface="Eras Light ITC" panose="020B0402030504020804" pitchFamily="34" charset="0"/>
              </a:rPr>
              <a:t>rectruteurs</a:t>
            </a:r>
            <a:endParaRPr lang="fr-FR" sz="2400" b="1" dirty="0">
              <a:latin typeface="Eras Light ITC" panose="020B04020305040208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6E757E8-E962-35A0-281B-FA7DBC8E45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0645" y="3750933"/>
            <a:ext cx="936524" cy="64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025F153-763B-FB2F-D812-8910327C8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0644" y="4544002"/>
            <a:ext cx="1566792" cy="448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rumpled paper ball transparent background 48712076 PNG">
            <a:extLst>
              <a:ext uri="{FF2B5EF4-FFF2-40B4-BE49-F238E27FC236}">
                <a16:creationId xmlns:a16="http://schemas.microsoft.com/office/drawing/2014/main" id="{0CB294B4-9F51-F0AF-C070-A82DC03B2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2354" y="4075058"/>
            <a:ext cx="816864" cy="816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A419622-A003-8E8C-4666-AEC1E842E7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1050" y="3942915"/>
            <a:ext cx="2114550" cy="762000"/>
          </a:xfrm>
          <a:prstGeom prst="rect">
            <a:avLst/>
          </a:prstGeom>
        </p:spPr>
      </p:pic>
      <p:pic>
        <p:nvPicPr>
          <p:cNvPr id="1036" name="Picture 12" descr="Black Garbage Bin PNGs for Free Download">
            <a:extLst>
              <a:ext uri="{FF2B5EF4-FFF2-40B4-BE49-F238E27FC236}">
                <a16:creationId xmlns:a16="http://schemas.microsoft.com/office/drawing/2014/main" id="{27951416-EDF9-EDE0-13FE-5D409C90A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4954" y="5708893"/>
            <a:ext cx="1971664" cy="1971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02913C7-FC90-9F44-9BB3-1C234885CD63}"/>
              </a:ext>
            </a:extLst>
          </p:cNvPr>
          <p:cNvSpPr txBox="1"/>
          <p:nvPr/>
        </p:nvSpPr>
        <p:spPr>
          <a:xfrm>
            <a:off x="5280992" y="3748027"/>
            <a:ext cx="1206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Portfolio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852AB5-BAFD-244B-D8E2-4BD850CCAF4C}"/>
              </a:ext>
            </a:extLst>
          </p:cNvPr>
          <p:cNvSpPr txBox="1"/>
          <p:nvPr/>
        </p:nvSpPr>
        <p:spPr>
          <a:xfrm>
            <a:off x="5280991" y="3941271"/>
            <a:ext cx="1206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/>
              <a:t>+</a:t>
            </a:r>
            <a:endParaRPr lang="en-GB" sz="3600" dirty="0"/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1722E018-24E1-4796-1E92-2CBA92151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236" y="4476697"/>
            <a:ext cx="591633" cy="409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LinkedIn: Emplois &amp; Connexions – Applications sur Google Play">
            <a:extLst>
              <a:ext uri="{FF2B5EF4-FFF2-40B4-BE49-F238E27FC236}">
                <a16:creationId xmlns:a16="http://schemas.microsoft.com/office/drawing/2014/main" id="{2C1E4C1D-BE68-FBA9-32C7-7A435EFB28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0582" y="5359688"/>
            <a:ext cx="559287" cy="559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F778333C-B4BB-E3C9-5B15-30338EB2BE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7098" y="4256818"/>
            <a:ext cx="835957" cy="835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C87DD7A-54AA-4120-A73A-8448AFBF86E5}"/>
              </a:ext>
            </a:extLst>
          </p:cNvPr>
          <p:cNvSpPr txBox="1"/>
          <p:nvPr/>
        </p:nvSpPr>
        <p:spPr>
          <a:xfrm>
            <a:off x="5280991" y="4780846"/>
            <a:ext cx="1206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/>
              <a:t>+</a:t>
            </a:r>
            <a:endParaRPr lang="en-GB" sz="3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B53A64-D61A-A2D3-BBF5-0340C25C4D31}"/>
              </a:ext>
            </a:extLst>
          </p:cNvPr>
          <p:cNvSpPr txBox="1"/>
          <p:nvPr/>
        </p:nvSpPr>
        <p:spPr>
          <a:xfrm>
            <a:off x="5852025" y="4376775"/>
            <a:ext cx="1206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/>
              <a:t>=</a:t>
            </a:r>
            <a:endParaRPr lang="en-GB" sz="3600" dirty="0"/>
          </a:p>
        </p:txBody>
      </p:sp>
      <p:pic>
        <p:nvPicPr>
          <p:cNvPr id="21" name="Picture 14" descr="LinkedIn: Emplois &amp; Connexions – Applications sur Google Play">
            <a:extLst>
              <a:ext uri="{FF2B5EF4-FFF2-40B4-BE49-F238E27FC236}">
                <a16:creationId xmlns:a16="http://schemas.microsoft.com/office/drawing/2014/main" id="{1456CD65-E0EA-6843-B700-87816BAFD5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9304" y="3756745"/>
            <a:ext cx="617798" cy="642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Behance Logo PNG Transparent &amp; SVG Vector - Freebie Supply">
            <a:extLst>
              <a:ext uri="{FF2B5EF4-FFF2-40B4-BE49-F238E27FC236}">
                <a16:creationId xmlns:a16="http://schemas.microsoft.com/office/drawing/2014/main" id="{F3AB4C3D-410B-69B3-7CFB-C5BAE01AA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0644" y="5158400"/>
            <a:ext cx="700102" cy="700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Soundcloud - Free social media icons">
            <a:extLst>
              <a:ext uri="{FF2B5EF4-FFF2-40B4-BE49-F238E27FC236}">
                <a16:creationId xmlns:a16="http://schemas.microsoft.com/office/drawing/2014/main" id="{CFB0233A-FD7F-5783-79D0-68A59D3CA1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7010" y="5158400"/>
            <a:ext cx="760575" cy="76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Oval 23">
            <a:extLst>
              <a:ext uri="{FF2B5EF4-FFF2-40B4-BE49-F238E27FC236}">
                <a16:creationId xmlns:a16="http://schemas.microsoft.com/office/drawing/2014/main" id="{E7E07AE3-D194-4B00-0CF7-F28864FE43C2}"/>
              </a:ext>
            </a:extLst>
          </p:cNvPr>
          <p:cNvSpPr/>
          <p:nvPr/>
        </p:nvSpPr>
        <p:spPr>
          <a:xfrm>
            <a:off x="551308" y="-19934099"/>
            <a:ext cx="20354034" cy="1800682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    </a:t>
            </a:r>
            <a:endParaRPr lang="en-GB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15A7D1E-8590-FFE1-6CB5-DC80CA85A48B}"/>
              </a:ext>
            </a:extLst>
          </p:cNvPr>
          <p:cNvSpPr/>
          <p:nvPr/>
        </p:nvSpPr>
        <p:spPr>
          <a:xfrm>
            <a:off x="-1041728" y="-4446861"/>
            <a:ext cx="15751721" cy="1575172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 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312207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54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3528 -0.0169 C 0.56367 0.16204 -0.00677 3.10764 -0.74206 2.83542 C -0.74427 3.04306 -1.51758 2.77639 -1.59662 2.77639 C -1.67513 2.77639 -1.51211 1.96782 -1.51211 1.76134 C -1.51016 1.5544 0.3069 -0.19583 0.43528 -0.0169 Z " pathEditMode="relative" rAng="0" ptsTypes="AAAAA">
                                      <p:cBhvr>
                                        <p:cTn id="5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1758" y="145926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2" grpId="0" animBg="1"/>
      <p:bldP spid="2" grpId="1" animBg="1"/>
      <p:bldP spid="7" grpId="0" animBg="1"/>
      <p:bldP spid="7" grpId="1" animBg="1"/>
      <p:bldP spid="8" grpId="0" animBg="1"/>
      <p:bldP spid="8" grpId="1" animBg="1"/>
      <p:bldP spid="11" grpId="0"/>
      <p:bldP spid="11" grpId="1"/>
      <p:bldP spid="12" grpId="0"/>
      <p:bldP spid="12" grpId="1"/>
      <p:bldP spid="13" grpId="0"/>
      <p:bldP spid="13" grpId="1"/>
      <p:bldP spid="15" grpId="0"/>
      <p:bldP spid="15" grpId="1"/>
      <p:bldP spid="16" grpId="0"/>
      <p:bldP spid="16" grpId="1"/>
      <p:bldP spid="19" grpId="0"/>
      <p:bldP spid="19" grpId="1"/>
      <p:bldP spid="20" grpId="0"/>
      <p:bldP spid="20" grpId="1"/>
      <p:bldP spid="24" grpId="0" animBg="1"/>
      <p:bldP spid="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922C0-8CA3-A606-3D68-5E73716FB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1CDF59-B4B6-C731-8EEA-248CF73E6C41}"/>
              </a:ext>
            </a:extLst>
          </p:cNvPr>
          <p:cNvSpPr/>
          <p:nvPr/>
        </p:nvSpPr>
        <p:spPr>
          <a:xfrm>
            <a:off x="-2" y="0"/>
            <a:ext cx="12192000" cy="68580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548BE1D-1AAE-BFE5-FF56-64B86C23060F}"/>
              </a:ext>
            </a:extLst>
          </p:cNvPr>
          <p:cNvSpPr/>
          <p:nvPr/>
        </p:nvSpPr>
        <p:spPr>
          <a:xfrm>
            <a:off x="5792262" y="3125262"/>
            <a:ext cx="607475" cy="6074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C8C20D-262C-3EC5-FF24-03D69929D49E}"/>
              </a:ext>
            </a:extLst>
          </p:cNvPr>
          <p:cNvSpPr txBox="1"/>
          <p:nvPr/>
        </p:nvSpPr>
        <p:spPr>
          <a:xfrm>
            <a:off x="4495864" y="3167389"/>
            <a:ext cx="32002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n>
                  <a:solidFill>
                    <a:schemeClr val="bg1"/>
                  </a:solidFill>
                </a:ln>
                <a:latin typeface="Arial Black" panose="020B0A04020102020204" pitchFamily="34" charset="0"/>
              </a:rPr>
              <a:t>TOUT EN UN</a:t>
            </a:r>
            <a:endParaRPr lang="en-GB" sz="2800" dirty="0">
              <a:ln>
                <a:solidFill>
                  <a:schemeClr val="bg1"/>
                </a:solidFill>
              </a:ln>
              <a:latin typeface="Arial Black" panose="020B0A040201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D6C3AD3-39F0-D5EC-AADA-BDBBA32B1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350" y="1864425"/>
            <a:ext cx="2237426" cy="123149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70DED486-261D-1A66-6088-2290BC018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3392225" y="1864424"/>
            <a:ext cx="2237426" cy="123149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A38521D-DAED-0156-2E7D-7F609C533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6562350" y="3971528"/>
            <a:ext cx="2237426" cy="123149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33D84E7-5BF9-4D2A-9892-D11FFCD5D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3392225" y="3971527"/>
            <a:ext cx="2237426" cy="1231499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B3D0BF21-14F5-64BB-22EB-946D7B7CEE4A}"/>
              </a:ext>
            </a:extLst>
          </p:cNvPr>
          <p:cNvSpPr txBox="1"/>
          <p:nvPr/>
        </p:nvSpPr>
        <p:spPr>
          <a:xfrm>
            <a:off x="1132327" y="1502568"/>
            <a:ext cx="23022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Montserrat" panose="00000500000000000000" pitchFamily="50" charset="0"/>
              </a:rPr>
              <a:t>Démonstrations Audio </a:t>
            </a:r>
            <a:r>
              <a:rPr lang="fr-FR" sz="1400" b="1" dirty="0">
                <a:latin typeface="Montserrat" panose="00000500000000000000" pitchFamily="50" charset="0"/>
              </a:rPr>
              <a:t>Statiques</a:t>
            </a:r>
            <a:r>
              <a:rPr lang="fr-FR" sz="1400" dirty="0">
                <a:latin typeface="Montserrat" panose="00000500000000000000" pitchFamily="50" charset="0"/>
              </a:rPr>
              <a:t> </a:t>
            </a:r>
            <a:r>
              <a:rPr lang="fr-FR" sz="1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50" charset="0"/>
              </a:rPr>
              <a:t>(film, pubs, ciné...)</a:t>
            </a:r>
            <a:endParaRPr lang="en-GB" sz="1400" dirty="0">
              <a:solidFill>
                <a:schemeClr val="bg1">
                  <a:lumMod val="65000"/>
                </a:schemeClr>
              </a:solidFill>
              <a:latin typeface="Montserrat" panose="00000500000000000000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114C6B-E052-02F2-A85A-E4B33A04772A}"/>
              </a:ext>
            </a:extLst>
          </p:cNvPr>
          <p:cNvSpPr txBox="1"/>
          <p:nvPr/>
        </p:nvSpPr>
        <p:spPr>
          <a:xfrm>
            <a:off x="304721" y="88396"/>
            <a:ext cx="3861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latin typeface="Barbara" pitchFamily="2" charset="0"/>
              </a:rPr>
              <a:t>Objectif</a:t>
            </a:r>
            <a:endParaRPr lang="en-US" sz="3600" dirty="0">
              <a:latin typeface="Barbar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28EC64-DD2B-1C7F-6408-2984F95CA81C}"/>
              </a:ext>
            </a:extLst>
          </p:cNvPr>
          <p:cNvSpPr txBox="1"/>
          <p:nvPr/>
        </p:nvSpPr>
        <p:spPr>
          <a:xfrm>
            <a:off x="1132327" y="1168029"/>
            <a:ext cx="17808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Barbara" pitchFamily="2" charset="0"/>
              </a:rPr>
              <a:t>HARDSKILL</a:t>
            </a:r>
            <a:endParaRPr lang="en-US" sz="3600" dirty="0">
              <a:latin typeface="Barbar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2F45AC-1A29-305A-BA87-E5D5259FD9A6}"/>
              </a:ext>
            </a:extLst>
          </p:cNvPr>
          <p:cNvSpPr txBox="1"/>
          <p:nvPr/>
        </p:nvSpPr>
        <p:spPr>
          <a:xfrm>
            <a:off x="8964876" y="1168029"/>
            <a:ext cx="17808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Barbara" pitchFamily="2" charset="0"/>
              </a:rPr>
              <a:t>HARDSKILL</a:t>
            </a:r>
            <a:endParaRPr lang="en-US" sz="3600" dirty="0">
              <a:latin typeface="Barbara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E3A7B3-C7E1-FF21-B7A4-B9DE367A8123}"/>
              </a:ext>
            </a:extLst>
          </p:cNvPr>
          <p:cNvSpPr txBox="1"/>
          <p:nvPr/>
        </p:nvSpPr>
        <p:spPr>
          <a:xfrm>
            <a:off x="8964876" y="1493574"/>
            <a:ext cx="23022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Montserrat" panose="00000500000000000000" pitchFamily="50" charset="0"/>
              </a:rPr>
              <a:t>Démonstrations Audio </a:t>
            </a:r>
            <a:r>
              <a:rPr lang="fr-FR" sz="1400" b="1" dirty="0">
                <a:latin typeface="Montserrat" panose="00000500000000000000" pitchFamily="50" charset="0"/>
              </a:rPr>
              <a:t>dynamiques</a:t>
            </a:r>
            <a:r>
              <a:rPr lang="fr-FR" sz="1400" dirty="0">
                <a:latin typeface="Montserrat" panose="00000500000000000000" pitchFamily="50" charset="0"/>
              </a:rPr>
              <a:t> </a:t>
            </a:r>
            <a:r>
              <a:rPr lang="fr-FR" sz="1400" dirty="0">
                <a:solidFill>
                  <a:schemeClr val="bg1">
                    <a:lumMod val="65000"/>
                  </a:schemeClr>
                </a:solidFill>
                <a:latin typeface="Montserrat" panose="00000500000000000000" pitchFamily="50" charset="0"/>
              </a:rPr>
              <a:t>(système de jeu, fmod, wwise...)</a:t>
            </a:r>
            <a:endParaRPr lang="en-GB" sz="1400" dirty="0">
              <a:solidFill>
                <a:schemeClr val="bg1">
                  <a:lumMod val="65000"/>
                </a:schemeClr>
              </a:solidFill>
              <a:latin typeface="Montserrat" panose="00000500000000000000" pitchFamily="50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184291-3A5E-403C-964C-1369F4C6BCDF}"/>
              </a:ext>
            </a:extLst>
          </p:cNvPr>
          <p:cNvSpPr txBox="1"/>
          <p:nvPr/>
        </p:nvSpPr>
        <p:spPr>
          <a:xfrm>
            <a:off x="1132327" y="5203027"/>
            <a:ext cx="23022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Montserrat" panose="00000500000000000000" pitchFamily="50" charset="0"/>
              </a:rPr>
              <a:t>Efficacité de communication (RH, Studios)</a:t>
            </a:r>
            <a:endParaRPr lang="en-GB" sz="1400" dirty="0">
              <a:solidFill>
                <a:schemeClr val="bg1">
                  <a:lumMod val="65000"/>
                </a:schemeClr>
              </a:solidFill>
              <a:latin typeface="Montserrat" panose="00000500000000000000" pitchFamily="50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9D833F-31F3-A742-4E77-3FB84FC3D92E}"/>
              </a:ext>
            </a:extLst>
          </p:cNvPr>
          <p:cNvSpPr txBox="1"/>
          <p:nvPr/>
        </p:nvSpPr>
        <p:spPr>
          <a:xfrm>
            <a:off x="1125969" y="4864472"/>
            <a:ext cx="17808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Barbara" pitchFamily="2" charset="0"/>
              </a:rPr>
              <a:t>SOFTSKILL</a:t>
            </a:r>
            <a:endParaRPr lang="en-US" sz="3600" dirty="0">
              <a:latin typeface="Barbara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1C7930-1824-8D47-820D-6232080C7568}"/>
              </a:ext>
            </a:extLst>
          </p:cNvPr>
          <p:cNvSpPr txBox="1"/>
          <p:nvPr/>
        </p:nvSpPr>
        <p:spPr>
          <a:xfrm>
            <a:off x="9021878" y="4757927"/>
            <a:ext cx="17808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Barbara" pitchFamily="2" charset="0"/>
              </a:rPr>
              <a:t>SOFTSKILL</a:t>
            </a:r>
            <a:endParaRPr lang="en-US" sz="3600" dirty="0">
              <a:latin typeface="Barbara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5CCF68-505E-6896-76D6-0F5C9322C293}"/>
              </a:ext>
            </a:extLst>
          </p:cNvPr>
          <p:cNvSpPr txBox="1"/>
          <p:nvPr/>
        </p:nvSpPr>
        <p:spPr>
          <a:xfrm>
            <a:off x="9021878" y="5096481"/>
            <a:ext cx="23022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Montserrat" panose="00000500000000000000" pitchFamily="50" charset="0"/>
              </a:rPr>
              <a:t>Bio, compétences, et CV téléchargeable</a:t>
            </a:r>
          </a:p>
        </p:txBody>
      </p:sp>
    </p:spTree>
    <p:extLst>
      <p:ext uri="{BB962C8B-B14F-4D97-AF65-F5344CB8AC3E}">
        <p14:creationId xmlns:p14="http://schemas.microsoft.com/office/powerpoint/2010/main" val="17639988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6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B9F4F-DD0F-15C4-7AF5-3326795C9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9B938B-58EC-41CC-19F8-9BE7DE03B838}"/>
              </a:ext>
            </a:extLst>
          </p:cNvPr>
          <p:cNvSpPr/>
          <p:nvPr/>
        </p:nvSpPr>
        <p:spPr>
          <a:xfrm>
            <a:off x="-1036690" y="0"/>
            <a:ext cx="147066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C94B387-60CC-4949-E32E-83E75373554F}"/>
              </a:ext>
            </a:extLst>
          </p:cNvPr>
          <p:cNvSpPr/>
          <p:nvPr/>
        </p:nvSpPr>
        <p:spPr>
          <a:xfrm>
            <a:off x="5792262" y="3125262"/>
            <a:ext cx="607475" cy="6074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0EBECF7-F468-5E37-AD6C-1E4699980785}"/>
              </a:ext>
            </a:extLst>
          </p:cNvPr>
          <p:cNvSpPr/>
          <p:nvPr/>
        </p:nvSpPr>
        <p:spPr>
          <a:xfrm>
            <a:off x="4848225" y="2181225"/>
            <a:ext cx="2495550" cy="2495550"/>
          </a:xfrm>
          <a:prstGeom prst="ellipse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05AD02D-C0BA-D797-446B-75ECB90F7ABA}"/>
              </a:ext>
            </a:extLst>
          </p:cNvPr>
          <p:cNvSpPr/>
          <p:nvPr/>
        </p:nvSpPr>
        <p:spPr>
          <a:xfrm>
            <a:off x="3869532" y="1202532"/>
            <a:ext cx="4452936" cy="4452936"/>
          </a:xfrm>
          <a:prstGeom prst="ellipse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9C9F998-C495-0D14-DFD3-215A8B85DF59}"/>
              </a:ext>
            </a:extLst>
          </p:cNvPr>
          <p:cNvSpPr/>
          <p:nvPr/>
        </p:nvSpPr>
        <p:spPr>
          <a:xfrm>
            <a:off x="2976165" y="309165"/>
            <a:ext cx="6239668" cy="6239668"/>
          </a:xfrm>
          <a:prstGeom prst="ellipse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18EB946-E2B0-51E0-C493-0BF25E728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1511" y="375221"/>
            <a:ext cx="4608975" cy="632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784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5DBA5-32A6-E627-E20A-572006FDF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A5EC74-AA91-46C3-10A1-E22D285EE5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699" y="928687"/>
            <a:ext cx="5000625" cy="50006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A8D64DC-627D-5B0B-C834-DAE8D3925883}"/>
              </a:ext>
            </a:extLst>
          </p:cNvPr>
          <p:cNvSpPr txBox="1"/>
          <p:nvPr/>
        </p:nvSpPr>
        <p:spPr>
          <a:xfrm>
            <a:off x="259768" y="291596"/>
            <a:ext cx="5836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latin typeface="Barbara" pitchFamily="2" charset="0"/>
              </a:rPr>
              <a:t>PROJET REALISE</a:t>
            </a:r>
            <a:endParaRPr lang="en-US" sz="3600" dirty="0">
              <a:latin typeface="Barbara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8D3115-2A62-CD49-E983-8F22B53151E1}"/>
              </a:ext>
            </a:extLst>
          </p:cNvPr>
          <p:cNvSpPr txBox="1"/>
          <p:nvPr/>
        </p:nvSpPr>
        <p:spPr>
          <a:xfrm>
            <a:off x="342279" y="996976"/>
            <a:ext cx="50037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Réalisation d’une expérience interactive tout en un démontrant mes capacités techniques, </a:t>
            </a:r>
            <a:r>
              <a:rPr lang="fr-FR" sz="1600" dirty="0" err="1">
                <a:latin typeface="Arial" panose="020B0604020202020204" pitchFamily="34" charset="0"/>
                <a:cs typeface="Arial" panose="020B0604020202020204" pitchFamily="34" charset="0"/>
              </a:rPr>
              <a:t>hardskills</a:t>
            </a: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fr-FR" sz="1600" dirty="0" err="1">
                <a:latin typeface="Arial" panose="020B0604020202020204" pitchFamily="34" charset="0"/>
                <a:cs typeface="Arial" panose="020B0604020202020204" pitchFamily="34" charset="0"/>
              </a:rPr>
              <a:t>softskills</a:t>
            </a: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EDFCAD-E0A6-AF0C-65D7-56A9704A9363}"/>
              </a:ext>
            </a:extLst>
          </p:cNvPr>
          <p:cNvSpPr txBox="1"/>
          <p:nvPr/>
        </p:nvSpPr>
        <p:spPr>
          <a:xfrm>
            <a:off x="342279" y="2133243"/>
            <a:ext cx="6524866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🎯 Structure Atomique</a:t>
            </a:r>
          </a:p>
          <a:p>
            <a:r>
              <a:rPr lang="fr-FR" sz="1400" b="1" dirty="0"/>
              <a:t>⚛️ Noyau Central / Bio</a:t>
            </a:r>
            <a:r>
              <a:rPr lang="fr-FR" sz="1400" dirty="0"/>
              <a:t> : Ma page biographique personnelle, cœur de l'identité professionnelle</a:t>
            </a:r>
          </a:p>
          <a:p>
            <a:endParaRPr lang="fr-FR" sz="1400" dirty="0"/>
          </a:p>
          <a:p>
            <a:r>
              <a:rPr lang="fr-FR" sz="1400" b="1" dirty="0"/>
              <a:t>🛸 Couches </a:t>
            </a:r>
            <a:r>
              <a:rPr lang="fr-FR" sz="1400" b="1" dirty="0" err="1"/>
              <a:t>Éléctroniques</a:t>
            </a:r>
            <a:r>
              <a:rPr lang="fr-FR" sz="1400" dirty="0"/>
              <a:t> : Trois domaines d'expertise organisés en orbites concentriques</a:t>
            </a:r>
          </a:p>
          <a:p>
            <a:endParaRPr lang="fr-FR" sz="1400" dirty="0"/>
          </a:p>
          <a:p>
            <a:pPr lvl="1"/>
            <a:r>
              <a:rPr lang="fr-FR" sz="1400" dirty="0"/>
              <a:t>🎵 </a:t>
            </a:r>
            <a:r>
              <a:rPr lang="fr-FR" sz="1400" b="1" dirty="0"/>
              <a:t>1ère couche</a:t>
            </a:r>
            <a:r>
              <a:rPr lang="fr-FR" sz="1400" dirty="0"/>
              <a:t> : Projets Musicaux &amp; Composition</a:t>
            </a:r>
          </a:p>
          <a:p>
            <a:pPr lvl="1"/>
            <a:r>
              <a:rPr lang="fr-FR" sz="1400" dirty="0"/>
              <a:t>🎮 </a:t>
            </a:r>
            <a:r>
              <a:rPr lang="fr-FR" sz="1400" b="1" dirty="0"/>
              <a:t>2ème couche</a:t>
            </a:r>
            <a:r>
              <a:rPr lang="fr-FR" sz="1400" dirty="0"/>
              <a:t> : Game Audio &amp; Sound Design</a:t>
            </a:r>
          </a:p>
          <a:p>
            <a:pPr lvl="1"/>
            <a:r>
              <a:rPr lang="fr-FR" sz="1400" dirty="0"/>
              <a:t>💻 </a:t>
            </a:r>
            <a:r>
              <a:rPr lang="fr-FR" sz="1400" b="1" dirty="0"/>
              <a:t>3ème couche</a:t>
            </a:r>
            <a:r>
              <a:rPr lang="fr-FR" sz="1400" dirty="0"/>
              <a:t> : Développements Techniques</a:t>
            </a:r>
          </a:p>
          <a:p>
            <a:pPr lvl="1"/>
            <a:endParaRPr lang="fr-FR" sz="1400" dirty="0"/>
          </a:p>
          <a:p>
            <a:r>
              <a:rPr lang="fr-FR" sz="1400" b="1" dirty="0"/>
              <a:t>⚡ Électrons</a:t>
            </a:r>
            <a:r>
              <a:rPr lang="fr-FR" sz="1400" dirty="0"/>
              <a:t> : Projets individuels gravitant sur leurs orbites respectives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9038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79DB98D-1E2E-7059-BF18-06676FAF0C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4393" y="90813"/>
            <a:ext cx="5264524" cy="6676373"/>
          </a:xfrm>
          <a:prstGeom prst="rect">
            <a:avLst/>
          </a:prstGeom>
        </p:spPr>
      </p:pic>
      <p:pic>
        <p:nvPicPr>
          <p:cNvPr id="1028" name="Picture 4" descr="javascript logo png, javascript icône transparent png 27127463 PNG">
            <a:extLst>
              <a:ext uri="{FF2B5EF4-FFF2-40B4-BE49-F238E27FC236}">
                <a16:creationId xmlns:a16="http://schemas.microsoft.com/office/drawing/2014/main" id="{45E6F0AF-E5DE-6614-7F48-3994A41A0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544102"/>
            <a:ext cx="428858" cy="428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Animated greenSock logo - Banner Animation - GSAP">
            <a:extLst>
              <a:ext uri="{FF2B5EF4-FFF2-40B4-BE49-F238E27FC236}">
                <a16:creationId xmlns:a16="http://schemas.microsoft.com/office/drawing/2014/main" id="{87F04661-99E9-E159-CBB0-522CA352D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402" y="1544101"/>
            <a:ext cx="428858" cy="428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F9602C-F35C-7CF6-4CF5-FE368268F129}"/>
              </a:ext>
            </a:extLst>
          </p:cNvPr>
          <p:cNvSpPr txBox="1"/>
          <p:nvPr/>
        </p:nvSpPr>
        <p:spPr>
          <a:xfrm>
            <a:off x="305340" y="1074792"/>
            <a:ext cx="73701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Barbara" pitchFamily="2" charset="0"/>
              </a:rPr>
              <a:t>1. STRUCTURE ATOMIQUE et logique projets</a:t>
            </a:r>
            <a:endParaRPr lang="en-US" sz="3600" dirty="0">
              <a:latin typeface="Barbara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B528B5-D35E-E10E-CC91-2832A49CCE0A}"/>
              </a:ext>
            </a:extLst>
          </p:cNvPr>
          <p:cNvSpPr txBox="1"/>
          <p:nvPr/>
        </p:nvSpPr>
        <p:spPr>
          <a:xfrm>
            <a:off x="259768" y="291596"/>
            <a:ext cx="5836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latin typeface="Barbara" pitchFamily="2" charset="0"/>
              </a:rPr>
              <a:t>PROCESSUS</a:t>
            </a:r>
            <a:endParaRPr lang="en-US" sz="3600" dirty="0">
              <a:latin typeface="Barbara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8C1A73-858C-BEDD-887E-F0941B9733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060" y="2069072"/>
            <a:ext cx="6336639" cy="11268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3C7824F-B4D0-CEAB-0AEE-A5A64FF95D8D}"/>
              </a:ext>
            </a:extLst>
          </p:cNvPr>
          <p:cNvSpPr txBox="1"/>
          <p:nvPr/>
        </p:nvSpPr>
        <p:spPr>
          <a:xfrm>
            <a:off x="323850" y="3292022"/>
            <a:ext cx="609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fr-FR" sz="1050" b="0" i="0" dirty="0">
                <a:solidFill>
                  <a:srgbClr val="1F2328"/>
                </a:solidFill>
                <a:effectLst/>
                <a:latin typeface="Montserrat" pitchFamily="2" charset="0"/>
              </a:rPr>
              <a:t>├── content/           # Collections de projets</a:t>
            </a:r>
          </a:p>
          <a:p>
            <a:pPr algn="l" latinLnBrk="0">
              <a:buNone/>
            </a:pPr>
            <a:r>
              <a:rPr lang="fr-FR" sz="1050" b="0" i="0" dirty="0">
                <a:solidFill>
                  <a:srgbClr val="1F2328"/>
                </a:solidFill>
                <a:effectLst/>
                <a:latin typeface="Montserrat" pitchFamily="2" charset="0"/>
              </a:rPr>
              <a:t>│   └── </a:t>
            </a:r>
            <a:r>
              <a:rPr lang="fr-FR" sz="1050" b="0" i="0" dirty="0" err="1">
                <a:solidFill>
                  <a:srgbClr val="1F2328"/>
                </a:solidFill>
                <a:effectLst/>
                <a:latin typeface="Montserrat" pitchFamily="2" charset="0"/>
              </a:rPr>
              <a:t>projects</a:t>
            </a:r>
            <a:r>
              <a:rPr lang="fr-FR" sz="1050" b="0" i="0" dirty="0">
                <a:solidFill>
                  <a:srgbClr val="1F2328"/>
                </a:solidFill>
                <a:effectLst/>
                <a:latin typeface="Montserrat" pitchFamily="2" charset="0"/>
              </a:rPr>
              <a:t>/      # Projets par catégorie</a:t>
            </a:r>
          </a:p>
          <a:p>
            <a:pPr algn="l" latinLnBrk="0">
              <a:buNone/>
            </a:pPr>
            <a:r>
              <a:rPr lang="fr-FR" sz="1050" b="0" i="0" dirty="0">
                <a:solidFill>
                  <a:srgbClr val="1F2328"/>
                </a:solidFill>
                <a:effectLst/>
                <a:latin typeface="Montserrat" pitchFamily="2" charset="0"/>
              </a:rPr>
              <a:t>├── pages/             # Pages et </a:t>
            </a:r>
            <a:r>
              <a:rPr lang="fr-FR" sz="1050" b="0" i="0" dirty="0" err="1">
                <a:solidFill>
                  <a:srgbClr val="1F2328"/>
                </a:solidFill>
                <a:effectLst/>
                <a:latin typeface="Montserrat" pitchFamily="2" charset="0"/>
              </a:rPr>
              <a:t>routing</a:t>
            </a:r>
            <a:endParaRPr lang="fr-FR" sz="1050" b="0" i="0" dirty="0">
              <a:solidFill>
                <a:srgbClr val="1F2328"/>
              </a:solidFill>
              <a:effectLst/>
              <a:latin typeface="Montserrat" pitchFamily="2" charset="0"/>
            </a:endParaRPr>
          </a:p>
          <a:p>
            <a:pPr algn="l">
              <a:buNone/>
            </a:pPr>
            <a:r>
              <a:rPr lang="fr-FR" sz="1050" b="0" i="0" dirty="0">
                <a:solidFill>
                  <a:srgbClr val="1F2328"/>
                </a:solidFill>
                <a:effectLst/>
                <a:latin typeface="Montserrat" pitchFamily="2" charset="0"/>
              </a:rPr>
              <a:t> └── user-tweaks.js     # Configuration centrale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6ADE5CF-FF6B-14A0-ECD2-579268A488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0857" y="3678985"/>
            <a:ext cx="2673536" cy="288741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CB4D1EC-0015-BA1D-FD76-EEEA14F18E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060" y="4128714"/>
            <a:ext cx="3663103" cy="2442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462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0E9C2-AC28-03CD-1D5F-A2135C28B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150C0C-6B80-DD55-3107-10B2AC7EE010}"/>
              </a:ext>
            </a:extLst>
          </p:cNvPr>
          <p:cNvSpPr txBox="1"/>
          <p:nvPr/>
        </p:nvSpPr>
        <p:spPr>
          <a:xfrm>
            <a:off x="259768" y="1042364"/>
            <a:ext cx="5255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Barbara" pitchFamily="2" charset="0"/>
              </a:rPr>
              <a:t>2. DESIGN ET CARTES REUTILISABLES</a:t>
            </a:r>
            <a:endParaRPr lang="en-US" sz="3600" dirty="0">
              <a:latin typeface="Barbara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0FA641-1512-1B41-0538-4966882E2DEE}"/>
              </a:ext>
            </a:extLst>
          </p:cNvPr>
          <p:cNvSpPr txBox="1"/>
          <p:nvPr/>
        </p:nvSpPr>
        <p:spPr>
          <a:xfrm>
            <a:off x="259768" y="291596"/>
            <a:ext cx="5836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latin typeface="Barbara" pitchFamily="2" charset="0"/>
              </a:rPr>
              <a:t>PROCESSUS</a:t>
            </a:r>
            <a:endParaRPr lang="en-US" sz="3600" dirty="0">
              <a:latin typeface="Barbara" pitchFamily="2" charset="0"/>
            </a:endParaRPr>
          </a:p>
        </p:txBody>
      </p:sp>
      <p:pic>
        <p:nvPicPr>
          <p:cNvPr id="2050" name="Picture 2" descr="Logo Photoshop PNG pour téléchargement gratuit">
            <a:extLst>
              <a:ext uri="{FF2B5EF4-FFF2-40B4-BE49-F238E27FC236}">
                <a16:creationId xmlns:a16="http://schemas.microsoft.com/office/drawing/2014/main" id="{03EC5BD8-9634-6756-A2C1-490DB11309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768" y="1627139"/>
            <a:ext cx="628650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AutoShape 4" descr="Astro Icon Logo PNG Vector (SVG) Free Download">
            <a:extLst>
              <a:ext uri="{FF2B5EF4-FFF2-40B4-BE49-F238E27FC236}">
                <a16:creationId xmlns:a16="http://schemas.microsoft.com/office/drawing/2014/main" id="{06CA7CEF-51BB-ED06-B7E5-A8195AE80D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6" name="Picture 8" descr="FlyonUI - Astro - StackBlitz">
            <a:extLst>
              <a:ext uri="{FF2B5EF4-FFF2-40B4-BE49-F238E27FC236}">
                <a16:creationId xmlns:a16="http://schemas.microsoft.com/office/drawing/2014/main" id="{0CEBB532-F79B-CE7A-4419-BA0F78253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68" y="1627139"/>
            <a:ext cx="739724" cy="73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D38A451-499C-C7F8-AA1D-36497DB4A68A}"/>
              </a:ext>
            </a:extLst>
          </p:cNvPr>
          <p:cNvSpPr txBox="1"/>
          <p:nvPr/>
        </p:nvSpPr>
        <p:spPr>
          <a:xfrm>
            <a:off x="259768" y="2420455"/>
            <a:ext cx="6096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fr-FR" sz="1050" b="0" i="0" dirty="0">
                <a:solidFill>
                  <a:srgbClr val="1F2328"/>
                </a:solidFill>
                <a:effectLst/>
                <a:latin typeface="Montserrat" pitchFamily="2" charset="0"/>
              </a:rPr>
              <a:t>Inspiration du design « Bento  », inspiré des plateaux repas</a:t>
            </a:r>
          </a:p>
          <a:p>
            <a:pPr algn="l" latinLnBrk="0">
              <a:buNone/>
            </a:pPr>
            <a:r>
              <a:rPr lang="fr-FR" sz="1050" dirty="0">
                <a:solidFill>
                  <a:srgbClr val="1F2328"/>
                </a:solidFill>
                <a:latin typeface="Montserrat" pitchFamily="2" charset="0"/>
              </a:rPr>
              <a:t>Japonais dans lequel il y a plusieurs compartiments au coins arrondis.</a:t>
            </a:r>
            <a:endParaRPr lang="fr-FR" sz="1050" b="0" i="0" dirty="0">
              <a:solidFill>
                <a:srgbClr val="1F2328"/>
              </a:solidFill>
              <a:effectLst/>
              <a:latin typeface="Montserrat" pitchFamily="2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9BD1B56-4976-0D11-740B-2E244E88BB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768" y="2951638"/>
            <a:ext cx="4283657" cy="3617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634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B4A4D4F1-442A-9066-B894-F7F548548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7284" y="269046"/>
            <a:ext cx="917695" cy="383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United Kingdom Flag Icon SVG Vector &amp; PNG Free Download | UXWing">
            <a:extLst>
              <a:ext uri="{FF2B5EF4-FFF2-40B4-BE49-F238E27FC236}">
                <a16:creationId xmlns:a16="http://schemas.microsoft.com/office/drawing/2014/main" id="{35E5E9D8-E472-B804-7610-3347E75188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9159" y="281116"/>
            <a:ext cx="874014" cy="874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6" descr="Linux Logo PNG &amp; SVG Design For T-Shirts">
            <a:extLst>
              <a:ext uri="{FF2B5EF4-FFF2-40B4-BE49-F238E27FC236}">
                <a16:creationId xmlns:a16="http://schemas.microsoft.com/office/drawing/2014/main" id="{62D2261D-BCFD-8178-E12A-B4EDF23F60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1850" y="122620"/>
            <a:ext cx="1191006" cy="119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 descr="Download Talking Png Download - Face To Face Talk Png PNG Image with No  Background - PNGkey.com">
            <a:extLst>
              <a:ext uri="{FF2B5EF4-FFF2-40B4-BE49-F238E27FC236}">
                <a16:creationId xmlns:a16="http://schemas.microsoft.com/office/drawing/2014/main" id="{D2CFCDAB-F14D-1077-E75C-1D7603B144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4022" y="1769730"/>
            <a:ext cx="1061914" cy="737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9252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828</TotalTime>
  <Words>226</Words>
  <Application>Microsoft Office PowerPoint</Application>
  <PresentationFormat>Widescreen</PresentationFormat>
  <Paragraphs>46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Arial Black</vt:lpstr>
      <vt:lpstr>Barbara</vt:lpstr>
      <vt:lpstr>Eras Light ITC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Arthur Kowskii Croquebois</dc:creator>
  <cp:lastModifiedBy>Arthur Kowskii Croquebois</cp:lastModifiedBy>
  <cp:revision>38</cp:revision>
  <dcterms:created xsi:type="dcterms:W3CDTF">2026-03-15T10:14:14Z</dcterms:created>
  <dcterms:modified xsi:type="dcterms:W3CDTF">2026-03-20T18:29:08Z</dcterms:modified>
</cp:coreProperties>
</file>